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otham Bold" charset="1" panose="00000000000000000000"/>
      <p:regular r:id="rId15"/>
    </p:embeddedFont>
    <p:embeddedFont>
      <p:font typeface="Canva Sans" charset="1" panose="020B0503030501040103"/>
      <p:regular r:id="rId16"/>
    </p:embeddedFont>
    <p:embeddedFont>
      <p:font typeface="Poppins" charset="1" panose="00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 Italic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8816462"/>
            <a:chOff x="0" y="0"/>
            <a:chExt cx="4816593" cy="23220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322031"/>
            </a:xfrm>
            <a:custGeom>
              <a:avLst/>
              <a:gdLst/>
              <a:ahLst/>
              <a:cxnLst/>
              <a:rect r="r" b="b" t="t" l="l"/>
              <a:pathLst>
                <a:path h="23220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22031"/>
                  </a:lnTo>
                  <a:lnTo>
                    <a:pt x="0" y="2322031"/>
                  </a:lnTo>
                  <a:close/>
                </a:path>
              </a:pathLst>
            </a:custGeom>
            <a:gradFill rotWithShape="true">
              <a:gsLst>
                <a:gs pos="0">
                  <a:srgbClr val="052839">
                    <a:alpha val="100000"/>
                  </a:srgbClr>
                </a:gs>
                <a:gs pos="100000">
                  <a:srgbClr val="0A5F87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360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26508" y="369424"/>
            <a:ext cx="9400206" cy="9400206"/>
          </a:xfrm>
          <a:custGeom>
            <a:avLst/>
            <a:gdLst/>
            <a:ahLst/>
            <a:cxnLst/>
            <a:rect r="r" b="b" t="t" l="l"/>
            <a:pathLst>
              <a:path h="9400206" w="9400206">
                <a:moveTo>
                  <a:pt x="0" y="0"/>
                </a:moveTo>
                <a:lnTo>
                  <a:pt x="9400206" y="0"/>
                </a:lnTo>
                <a:lnTo>
                  <a:pt x="9400206" y="9400207"/>
                </a:lnTo>
                <a:lnTo>
                  <a:pt x="0" y="9400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0941" y="1499014"/>
            <a:ext cx="17633154" cy="473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9"/>
              </a:lnSpc>
            </a:pPr>
            <a:r>
              <a:rPr lang="en-US" b="true" sz="12687" spc="-64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“THE RISE AND REVOLUTION OF IPO’S IN INDIA (2010-2021)”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11139" y="9468263"/>
            <a:ext cx="18710279" cy="1295036"/>
            <a:chOff x="0" y="0"/>
            <a:chExt cx="4927810" cy="341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27810" cy="341079"/>
            </a:xfrm>
            <a:custGeom>
              <a:avLst/>
              <a:gdLst/>
              <a:ahLst/>
              <a:cxnLst/>
              <a:rect r="r" b="b" t="t" l="l"/>
              <a:pathLst>
                <a:path h="341079" w="4927810">
                  <a:moveTo>
                    <a:pt x="0" y="0"/>
                  </a:moveTo>
                  <a:lnTo>
                    <a:pt x="4927810" y="0"/>
                  </a:lnTo>
                  <a:lnTo>
                    <a:pt x="4927810" y="341079"/>
                  </a:lnTo>
                  <a:lnTo>
                    <a:pt x="0" y="341079"/>
                  </a:lnTo>
                  <a:close/>
                </a:path>
              </a:pathLst>
            </a:custGeom>
            <a:solidFill>
              <a:srgbClr val="04293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927810" cy="39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64482">
            <a:off x="16744950" y="9109479"/>
            <a:ext cx="3086100" cy="1549244"/>
            <a:chOff x="0" y="0"/>
            <a:chExt cx="812800" cy="408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8031"/>
            </a:xfrm>
            <a:custGeom>
              <a:avLst/>
              <a:gdLst/>
              <a:ahLst/>
              <a:cxnLst/>
              <a:rect r="r" b="b" t="t" l="l"/>
              <a:pathLst>
                <a:path h="40803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08031"/>
                  </a:lnTo>
                  <a:lnTo>
                    <a:pt x="0" y="4080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465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864482">
            <a:off x="-1319740" y="-735279"/>
            <a:ext cx="3086100" cy="1549244"/>
            <a:chOff x="0" y="0"/>
            <a:chExt cx="812800" cy="408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8031"/>
            </a:xfrm>
            <a:custGeom>
              <a:avLst/>
              <a:gdLst/>
              <a:ahLst/>
              <a:cxnLst/>
              <a:rect r="r" b="b" t="t" l="l"/>
              <a:pathLst>
                <a:path h="40803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08031"/>
                  </a:lnTo>
                  <a:lnTo>
                    <a:pt x="0" y="4080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465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864482">
            <a:off x="15157034" y="10164969"/>
            <a:ext cx="3086100" cy="94824"/>
            <a:chOff x="0" y="0"/>
            <a:chExt cx="812800" cy="249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24974"/>
            </a:xfrm>
            <a:custGeom>
              <a:avLst/>
              <a:gdLst/>
              <a:ahLst/>
              <a:cxnLst/>
              <a:rect r="r" b="b" t="t" l="l"/>
              <a:pathLst>
                <a:path h="249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74"/>
                  </a:lnTo>
                  <a:lnTo>
                    <a:pt x="0" y="249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82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2864482">
            <a:off x="-9351" y="-8069"/>
            <a:ext cx="3086100" cy="94824"/>
            <a:chOff x="0" y="0"/>
            <a:chExt cx="812800" cy="24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24974"/>
            </a:xfrm>
            <a:custGeom>
              <a:avLst/>
              <a:gdLst/>
              <a:ahLst/>
              <a:cxnLst/>
              <a:rect r="r" b="b" t="t" l="l"/>
              <a:pathLst>
                <a:path h="249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74"/>
                  </a:lnTo>
                  <a:lnTo>
                    <a:pt x="0" y="249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2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-193905" y="6603192"/>
            <a:ext cx="16515068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name: The Visualizers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Amrita Maharana (240402100001)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Smruti Pragyan Sahoo (240402100006)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Shyam Sundar Mohapatra (240402100043)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Sourabha Prakash Mohanty (240402100051)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Swayang Swabhiman Jena (240402100054)</a:t>
            </a:r>
          </a:p>
          <a:p>
            <a:pPr algn="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45377" y="-1429773"/>
            <a:ext cx="3620517" cy="13146547"/>
            <a:chOff x="0" y="0"/>
            <a:chExt cx="953552" cy="3462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3552" cy="3462465"/>
            </a:xfrm>
            <a:custGeom>
              <a:avLst/>
              <a:gdLst/>
              <a:ahLst/>
              <a:cxnLst/>
              <a:rect r="r" b="b" t="t" l="l"/>
              <a:pathLst>
                <a:path h="3462465" w="953552">
                  <a:moveTo>
                    <a:pt x="0" y="0"/>
                  </a:moveTo>
                  <a:lnTo>
                    <a:pt x="953552" y="0"/>
                  </a:lnTo>
                  <a:lnTo>
                    <a:pt x="953552" y="3462465"/>
                  </a:lnTo>
                  <a:lnTo>
                    <a:pt x="0" y="3462465"/>
                  </a:lnTo>
                  <a:close/>
                </a:path>
              </a:pathLst>
            </a:custGeom>
            <a:solidFill>
              <a:srgbClr val="0429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53552" cy="3519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5564" y="515282"/>
            <a:ext cx="6893588" cy="6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b="true" sz="5049" spc="-257">
                <a:solidFill>
                  <a:srgbClr val="07364E"/>
                </a:solidFill>
                <a:latin typeface="Gotham Bold"/>
                <a:ea typeface="Gotham Bold"/>
                <a:cs typeface="Gotham Bold"/>
                <a:sym typeface="Gotham Bold"/>
              </a:rPr>
              <a:t>OBJECTIVES :-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0884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4163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8144" y="1439269"/>
            <a:ext cx="1057072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Identify Key Drivers of Listing Day Performance.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8144" y="2296201"/>
            <a:ext cx="1232046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Segment IPOs by Subscription Demand (Hype vs. Value).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98144" y="3153134"/>
            <a:ext cx="115582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"Listing Pop vs. Long-Term Value" Quadrant Analysis.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8144" y="3963035"/>
            <a:ext cx="1111234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Profile Investor-Specific Demand ("Smart Money")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8144" y="4819967"/>
            <a:ext cx="111142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(Stand-b,0y) Analyze Market Sentiment Over 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40455" y="4028315"/>
          <a:ext cx="8915400" cy="3619310"/>
        </p:xfrm>
        <a:graphic>
          <a:graphicData uri="http://schemas.openxmlformats.org/presentationml/2006/ole">
            <p:oleObj imgW="10693400" imgH="5397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49342" y="334124"/>
            <a:ext cx="13292293" cy="54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b="true" sz="4149" spc="-211">
                <a:solidFill>
                  <a:srgbClr val="07364E"/>
                </a:solidFill>
                <a:latin typeface="Gotham Bold"/>
                <a:ea typeface="Gotham Bold"/>
                <a:cs typeface="Gotham Bold"/>
                <a:sym typeface="Gotham Bold"/>
              </a:rPr>
              <a:t>DATA UNDERSTANDING AND CLEANING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0884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4163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9342" y="962025"/>
            <a:ext cx="4486156" cy="128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Dataset Overview:-</a:t>
            </a:r>
          </a:p>
          <a:p>
            <a:pPr algn="ctr">
              <a:lnSpc>
                <a:spcPts val="51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45343" y="1675289"/>
            <a:ext cx="12091392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Source: IPO performance dataset containing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264 records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(company-wise IPOs).</a:t>
            </a:r>
          </a:p>
          <a:p>
            <a:pPr algn="ctr">
              <a:lnSpc>
                <a:spcPts val="33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2144011" y="2312114"/>
            <a:ext cx="16393597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Scope: Captures 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issue details, investor demand, and market performance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listing to current date.</a:t>
            </a:r>
          </a:p>
          <a:p>
            <a:pPr algn="ctr">
              <a:lnSpc>
                <a:spcPts val="336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40455" y="3258598"/>
            <a:ext cx="12910067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Granularity: One record per IPO → enables time, segment, and investor-type analysis.</a:t>
            </a:r>
          </a:p>
          <a:p>
            <a:pPr algn="ctr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44011"/>
            <a:ext cx="459762" cy="461933"/>
          </a:xfrm>
          <a:custGeom>
            <a:avLst/>
            <a:gdLst/>
            <a:ahLst/>
            <a:cxnLst/>
            <a:rect r="r" b="b" t="t" l="l"/>
            <a:pathLst>
              <a:path h="461933" w="459762">
                <a:moveTo>
                  <a:pt x="0" y="0"/>
                </a:moveTo>
                <a:lnTo>
                  <a:pt x="459762" y="0"/>
                </a:lnTo>
                <a:lnTo>
                  <a:pt x="459762" y="461933"/>
                </a:lnTo>
                <a:lnTo>
                  <a:pt x="0" y="46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8462" y="1505944"/>
            <a:ext cx="14732257" cy="8292154"/>
          </a:xfrm>
          <a:custGeom>
            <a:avLst/>
            <a:gdLst/>
            <a:ahLst/>
            <a:cxnLst/>
            <a:rect r="r" b="b" t="t" l="l"/>
            <a:pathLst>
              <a:path h="8292154" w="14732257">
                <a:moveTo>
                  <a:pt x="0" y="0"/>
                </a:moveTo>
                <a:lnTo>
                  <a:pt x="14732257" y="0"/>
                </a:lnTo>
                <a:lnTo>
                  <a:pt x="14732257" y="8292154"/>
                </a:lnTo>
                <a:lnTo>
                  <a:pt x="0" y="8292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5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1354" y="242139"/>
            <a:ext cx="17037946" cy="6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b="true" sz="5049" spc="-257">
                <a:solidFill>
                  <a:srgbClr val="07364E"/>
                </a:solidFill>
                <a:latin typeface="Gotham Bold"/>
                <a:ea typeface="Gotham Bold"/>
                <a:cs typeface="Gotham Bold"/>
                <a:sym typeface="Gotham Bold"/>
              </a:rPr>
              <a:t>DASHBOARD DESIGN AND STRUCTURE:-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0884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4163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06180" y="1147202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845" y="1158436"/>
            <a:ext cx="1642628" cy="28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b="true" sz="2156" spc="-10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LICERIA.CO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1738" y="368883"/>
            <a:ext cx="13839619" cy="65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b="true" sz="5085" spc="-259">
                <a:solidFill>
                  <a:srgbClr val="07364E"/>
                </a:solidFill>
                <a:latin typeface="Gotham Bold"/>
                <a:ea typeface="Gotham Bold"/>
                <a:cs typeface="Gotham Bold"/>
                <a:sym typeface="Gotham Bold"/>
              </a:rPr>
              <a:t>KEY INSIGHTS AND ANALYTICS:-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06180" y="1147202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67833" y="4875959"/>
            <a:ext cx="819777" cy="62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b="true" sz="4772" spc="-24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5431" y="1448794"/>
            <a:ext cx="17025167" cy="737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Listing Day Performance: IPOs with high QIB oversubscription and smaller issue sizes show stronger listing gains.</a:t>
            </a: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Subscription Demand: Balanced participation from QIB, HNI, and RII leads to more stable IPO performance.</a:t>
            </a: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Listing Pop vs Long-Term Value: Many IPOs give a high initial pop but low long-term returns — fundamentals matter more than hype.</a:t>
            </a: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Smart Money Trend: Strong institutional (QIB) interest predicts sustained post-listing growth.</a:t>
            </a:r>
          </a:p>
          <a:p>
            <a:pPr algn="just">
              <a:lnSpc>
                <a:spcPts val="4210"/>
              </a:lnSpc>
            </a:pPr>
          </a:p>
          <a:p>
            <a:pPr algn="just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Market Sentiment Insight: IPO success closely aligns with overall market confidence — bullish markets drive higher subscriptions and better listings.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012" y="452591"/>
            <a:ext cx="6859338" cy="3777150"/>
          </a:xfrm>
          <a:custGeom>
            <a:avLst/>
            <a:gdLst/>
            <a:ahLst/>
            <a:cxnLst/>
            <a:rect r="r" b="b" t="t" l="l"/>
            <a:pathLst>
              <a:path h="3777150" w="6859338">
                <a:moveTo>
                  <a:pt x="0" y="0"/>
                </a:moveTo>
                <a:lnTo>
                  <a:pt x="6859338" y="0"/>
                </a:lnTo>
                <a:lnTo>
                  <a:pt x="6859338" y="3777150"/>
                </a:lnTo>
                <a:lnTo>
                  <a:pt x="0" y="3777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12" r="0" b="-3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7012" y="5143500"/>
            <a:ext cx="6385182" cy="4000060"/>
          </a:xfrm>
          <a:custGeom>
            <a:avLst/>
            <a:gdLst/>
            <a:ahLst/>
            <a:cxnLst/>
            <a:rect r="r" b="b" t="t" l="l"/>
            <a:pathLst>
              <a:path h="4000060" w="6385182">
                <a:moveTo>
                  <a:pt x="0" y="0"/>
                </a:moveTo>
                <a:lnTo>
                  <a:pt x="6385182" y="0"/>
                </a:lnTo>
                <a:lnTo>
                  <a:pt x="6385182" y="4000060"/>
                </a:lnTo>
                <a:lnTo>
                  <a:pt x="0" y="4000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902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40942" y="1911766"/>
            <a:ext cx="8079082" cy="5901922"/>
          </a:xfrm>
          <a:custGeom>
            <a:avLst/>
            <a:gdLst/>
            <a:ahLst/>
            <a:cxnLst/>
            <a:rect r="r" b="b" t="t" l="l"/>
            <a:pathLst>
              <a:path h="5901922" w="8079082">
                <a:moveTo>
                  <a:pt x="0" y="0"/>
                </a:moveTo>
                <a:lnTo>
                  <a:pt x="8079082" y="0"/>
                </a:lnTo>
                <a:lnTo>
                  <a:pt x="8079082" y="5901922"/>
                </a:lnTo>
                <a:lnTo>
                  <a:pt x="0" y="590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" t="0" r="0" b="-69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0884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34" y="242339"/>
            <a:ext cx="16122485" cy="6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b="true" sz="5049" spc="-257">
                <a:solidFill>
                  <a:srgbClr val="07364E"/>
                </a:solidFill>
                <a:latin typeface="Gotham Bold"/>
                <a:ea typeface="Gotham Bold"/>
                <a:cs typeface="Gotham Bold"/>
                <a:sym typeface="Gotham Bold"/>
              </a:rPr>
              <a:t>RECOMMENDATIONS / BUSINESS IMPLICATIONS:-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0884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4163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210" y="1137677"/>
            <a:ext cx="597598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AutoNum type="arabicPeriod" startAt="1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Demand-Driven Strategy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78160" y="1892568"/>
            <a:ext cx="1598114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High-Demand IPOs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deliver the strongest listing gains but show faster long-term value erosion.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20683"/>
            <a:ext cx="731150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Segment-Wise Investment Focus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16221" y="4219892"/>
            <a:ext cx="1594307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Moderate-Demand IPOs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sustain better </a:t>
            </a: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long-term returns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despite lower listing spikes.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666197"/>
            <a:ext cx="667273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Issue Size &amp; Pricing Efficiency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78160" y="6390958"/>
            <a:ext cx="172593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Large-issue IPOs show diluted short-term gains but attract more stable participation.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44011"/>
            <a:ext cx="459762" cy="461933"/>
          </a:xfrm>
          <a:custGeom>
            <a:avLst/>
            <a:gdLst/>
            <a:ahLst/>
            <a:cxnLst/>
            <a:rect r="r" b="b" t="t" l="l"/>
            <a:pathLst>
              <a:path h="461933" w="459762">
                <a:moveTo>
                  <a:pt x="0" y="0"/>
                </a:moveTo>
                <a:lnTo>
                  <a:pt x="459762" y="0"/>
                </a:lnTo>
                <a:lnTo>
                  <a:pt x="459762" y="461933"/>
                </a:lnTo>
                <a:lnTo>
                  <a:pt x="0" y="46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6845" y="1158436"/>
            <a:ext cx="1642628" cy="28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b="true" sz="2156" spc="-10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LICERIA.CO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7639" y="445396"/>
            <a:ext cx="13923030" cy="66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3"/>
              </a:lnSpc>
            </a:pPr>
            <a:r>
              <a:rPr lang="en-US" b="true" sz="5149" spc="-262">
                <a:solidFill>
                  <a:srgbClr val="07364E"/>
                </a:solidFill>
                <a:latin typeface="Gotham Bold"/>
                <a:ea typeface="Gotham Bold"/>
                <a:cs typeface="Gotham Bold"/>
                <a:sym typeface="Gotham Bold"/>
              </a:rPr>
              <a:t>CONCLUSION AND LEARNING SUMMARY:-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0884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41635" y="1147202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06180" y="1147202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7639" y="1768875"/>
            <a:ext cx="16479779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Clean, structure, and model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large datasets efficiently using Power Query and DAX.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interactive dashboards that communicate complex metrics in a visually intuitive way.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Translate analytical findings into business implications supporting marketing, finance, and investor decisions.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8816462"/>
            <a:chOff x="0" y="0"/>
            <a:chExt cx="4816593" cy="23220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322031"/>
            </a:xfrm>
            <a:custGeom>
              <a:avLst/>
              <a:gdLst/>
              <a:ahLst/>
              <a:cxnLst/>
              <a:rect r="r" b="b" t="t" l="l"/>
              <a:pathLst>
                <a:path h="23220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22031"/>
                  </a:lnTo>
                  <a:lnTo>
                    <a:pt x="0" y="2322031"/>
                  </a:lnTo>
                  <a:close/>
                </a:path>
              </a:pathLst>
            </a:custGeom>
            <a:gradFill rotWithShape="true">
              <a:gsLst>
                <a:gs pos="0">
                  <a:srgbClr val="052839">
                    <a:alpha val="100000"/>
                  </a:srgbClr>
                </a:gs>
                <a:gs pos="100000">
                  <a:srgbClr val="0A5F87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360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98656" y="1204352"/>
            <a:ext cx="7792198" cy="7792198"/>
          </a:xfrm>
          <a:custGeom>
            <a:avLst/>
            <a:gdLst/>
            <a:ahLst/>
            <a:cxnLst/>
            <a:rect r="r" b="b" t="t" l="l"/>
            <a:pathLst>
              <a:path h="7792198" w="7792198">
                <a:moveTo>
                  <a:pt x="0" y="0"/>
                </a:moveTo>
                <a:lnTo>
                  <a:pt x="7792198" y="0"/>
                </a:lnTo>
                <a:lnTo>
                  <a:pt x="7792198" y="7792198"/>
                </a:lnTo>
                <a:lnTo>
                  <a:pt x="0" y="7792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0924" y="2464297"/>
            <a:ext cx="13966152" cy="575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13"/>
              </a:lnSpc>
            </a:pPr>
            <a:r>
              <a:rPr lang="en-US" b="true" sz="22930" spc="-116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11139" y="9468263"/>
            <a:ext cx="18710279" cy="1295036"/>
            <a:chOff x="0" y="0"/>
            <a:chExt cx="4927810" cy="341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27810" cy="341079"/>
            </a:xfrm>
            <a:custGeom>
              <a:avLst/>
              <a:gdLst/>
              <a:ahLst/>
              <a:cxnLst/>
              <a:rect r="r" b="b" t="t" l="l"/>
              <a:pathLst>
                <a:path h="341079" w="4927810">
                  <a:moveTo>
                    <a:pt x="0" y="0"/>
                  </a:moveTo>
                  <a:lnTo>
                    <a:pt x="4927810" y="0"/>
                  </a:lnTo>
                  <a:lnTo>
                    <a:pt x="4927810" y="341079"/>
                  </a:lnTo>
                  <a:lnTo>
                    <a:pt x="0" y="341079"/>
                  </a:lnTo>
                  <a:close/>
                </a:path>
              </a:pathLst>
            </a:custGeom>
            <a:solidFill>
              <a:srgbClr val="04293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927810" cy="39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864482">
            <a:off x="16744950" y="9109479"/>
            <a:ext cx="3086100" cy="1549244"/>
            <a:chOff x="0" y="0"/>
            <a:chExt cx="812800" cy="408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8031"/>
            </a:xfrm>
            <a:custGeom>
              <a:avLst/>
              <a:gdLst/>
              <a:ahLst/>
              <a:cxnLst/>
              <a:rect r="r" b="b" t="t" l="l"/>
              <a:pathLst>
                <a:path h="40803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08031"/>
                  </a:lnTo>
                  <a:lnTo>
                    <a:pt x="0" y="4080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465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864482">
            <a:off x="-1319740" y="-735279"/>
            <a:ext cx="3086100" cy="1549244"/>
            <a:chOff x="0" y="0"/>
            <a:chExt cx="812800" cy="408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8031"/>
            </a:xfrm>
            <a:custGeom>
              <a:avLst/>
              <a:gdLst/>
              <a:ahLst/>
              <a:cxnLst/>
              <a:rect r="r" b="b" t="t" l="l"/>
              <a:pathLst>
                <a:path h="40803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08031"/>
                  </a:lnTo>
                  <a:lnTo>
                    <a:pt x="0" y="4080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465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864482">
            <a:off x="15157034" y="10164969"/>
            <a:ext cx="3086100" cy="94824"/>
            <a:chOff x="0" y="0"/>
            <a:chExt cx="812800" cy="249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24974"/>
            </a:xfrm>
            <a:custGeom>
              <a:avLst/>
              <a:gdLst/>
              <a:ahLst/>
              <a:cxnLst/>
              <a:rect r="r" b="b" t="t" l="l"/>
              <a:pathLst>
                <a:path h="249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74"/>
                  </a:lnTo>
                  <a:lnTo>
                    <a:pt x="0" y="249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82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2864482">
            <a:off x="-9351" y="-8069"/>
            <a:ext cx="3086100" cy="94824"/>
            <a:chOff x="0" y="0"/>
            <a:chExt cx="812800" cy="24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24974"/>
            </a:xfrm>
            <a:custGeom>
              <a:avLst/>
              <a:gdLst/>
              <a:ahLst/>
              <a:cxnLst/>
              <a:rect r="r" b="b" t="t" l="l"/>
              <a:pathLst>
                <a:path h="249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974"/>
                  </a:lnTo>
                  <a:lnTo>
                    <a:pt x="0" y="249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82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DAG3sTx_hDg</dc:identifier>
  <dcterms:modified xsi:type="dcterms:W3CDTF">2011-08-01T06:04:30Z</dcterms:modified>
  <cp:revision>1</cp:revision>
  <dc:title>OBJECTIVES :-</dc:title>
</cp:coreProperties>
</file>